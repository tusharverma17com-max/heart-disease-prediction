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96F3"/>
              </a:solidFill>
              <a:effectLst/>
            </c:spPr>
          </c:dPt>
          <c:dPt>
            <c:idx val="1"/>
            <c:bubble3D val="0"/>
            <c:spPr>
              <a:solidFill>
                <a:srgbClr val="00BCD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Heart Disease (526)</c:v>
                </c:pt>
                <c:pt idx="1">
                  <c:v>No Disease (499)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526</c:v>
                </c:pt>
                <c:pt idx="1">
                  <c:v>499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Decision
Tree</c:v>
                  </c:pt>
                  <c:pt idx="2">
                    <c:v>Random
Forest</c:v>
                  </c:pt>
                  <c:pt idx="3">
                    <c:v>Gradient
Boosting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0.9632</c:v>
                </c:pt>
                <c:pt idx="1">
                  <c:v>0.9348</c:v>
                </c:pt>
                <c:pt idx="2">
                  <c:v>0.988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BC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Decision
Tree</c:v>
                  </c:pt>
                  <c:pt idx="2">
                    <c:v>Random
Forest</c:v>
                  </c:pt>
                  <c:pt idx="3">
                    <c:v>Gradient
Boosting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0.8757</c:v>
                </c:pt>
                <c:pt idx="1">
                  <c:v>0.9053</c:v>
                </c:pt>
                <c:pt idx="2">
                  <c:v>0.9231</c:v>
                </c:pt>
                <c:pt idx="3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Decision
Tree</c:v>
                  </c:pt>
                  <c:pt idx="2">
                    <c:v>Random
Forest</c:v>
                  </c:pt>
                  <c:pt idx="3">
                    <c:v>Gradient
Boosting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0.8757</c:v>
                </c:pt>
                <c:pt idx="1">
                  <c:v>0.9049</c:v>
                </c:pt>
                <c:pt idx="2">
                  <c:v>0.923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2"/>
          <c:min val="0.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548640"/>
            <a:ext cx="1371600" cy="1371600"/>
          </a:xfrm>
          <a:prstGeom prst="ellipse">
            <a:avLst/>
          </a:prstGeom>
          <a:solidFill>
            <a:srgbClr val="2196F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548640"/>
            <a:ext cx="1371600" cy="1371600"/>
          </a:xfrm>
          <a:prstGeom prst="ellipse">
            <a:avLst/>
          </a:prstGeom>
          <a:solidFill>
            <a:srgbClr val="2196F3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CD4"/>
                </a:solidFill>
              </a:rPr>
              <a:t>MACHINE LEARNING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B4C8"/>
                </a:solidFill>
              </a:rPr>
              <a:t>Using Apache Spark (PySpark)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2011680" cy="685800"/>
          </a:xfrm>
          <a:prstGeom prst="rect">
            <a:avLst>
              <a:gd name="adj" fmla="val 6667"/>
            </a:avLst>
          </a:prstGeom>
          <a:solidFill>
            <a:srgbClr val="1A3A6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9319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1,025 Patients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3931920"/>
            <a:ext cx="2011680" cy="685800"/>
          </a:xfrm>
          <a:prstGeom prst="rect">
            <a:avLst>
              <a:gd name="adj" fmla="val 6667"/>
            </a:avLst>
          </a:prstGeom>
          <a:solidFill>
            <a:srgbClr val="1A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39319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13 Features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3931920"/>
            <a:ext cx="2011680" cy="685800"/>
          </a:xfrm>
          <a:prstGeom prst="rect">
            <a:avLst>
              <a:gd name="adj" fmla="val 6667"/>
            </a:avLst>
          </a:prstGeom>
          <a:solidFill>
            <a:srgbClr val="1A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39319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 ML Models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502920" cy="10058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Why heart disease prediction matters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502920" cy="10058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972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11430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Dataset Overview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15544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1,025 patient records · 13 clinical features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02336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331720"/>
            <a:ext cx="502920" cy="10058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331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3774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Spark ML Pipeline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7889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StringIndexer → OHE → Assembler → Scaler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02336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331720"/>
            <a:ext cx="502920" cy="10058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331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23774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Models &amp; Results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27889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LR · Decision Tree · Random Forest · GBT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402336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3566160"/>
            <a:ext cx="502920" cy="10058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566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6118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Cross-Validation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0233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5-fold CV with hyperparameter tuning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02336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3566160"/>
            <a:ext cx="502920" cy="10058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56616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36118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Confusion Matrix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40233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Perfect precision &amp; recall achieved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43200" cy="34747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#1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Leading cause of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death worldwide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2004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D9F7"/>
                </a:solidFill>
              </a:rPr>
              <a:t>17.9 million deaths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3D9F7"/>
                </a:solidFill>
              </a:rPr>
              <a:t>per year (WHO)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051560"/>
            <a:ext cx="530352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3520440" y="1280160"/>
            <a:ext cx="502920" cy="50292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Early Detection Saves Lives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14904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ML models can identify high-risk patients before symptoms worsen, enabling timely treatment.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0" y="2194560"/>
            <a:ext cx="530352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3520440" y="2423160"/>
            <a:ext cx="502920" cy="50292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Clinical Data is Complex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26334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Doctors must manually analyse 13+ parameters simultaneously — error-prone and time-consuming.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3337560"/>
            <a:ext cx="5303520" cy="1005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3520440" y="3566160"/>
            <a:ext cx="502920" cy="502920"/>
          </a:xfrm>
          <a:prstGeom prst="ellipse">
            <a:avLst/>
          </a:prstGeom>
          <a:solidFill>
            <a:srgbClr val="0A1628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Spark Enables Scale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37764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Apache Spark allows this pipeline to run on millions of patient records in a distributed environment.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92024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0584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96F3"/>
                </a:solidFill>
              </a:rPr>
              <a:t>1,025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Total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2024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00584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96F3"/>
                </a:solidFill>
              </a:rPr>
              <a:t>13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68880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Input 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192024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00584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96F3"/>
                </a:solidFill>
              </a:rPr>
              <a:t>526 / 499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Disease / Healthy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005840"/>
            <a:ext cx="192024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00584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96F3"/>
                </a:solidFill>
              </a:rPr>
              <a:t>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66560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Null Values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Key Features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68880"/>
          <a:ext cx="5029200" cy="246888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Range / Values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29 – 77 years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Resting Blood Pressure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94 – 200 mmHg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Cholesterol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126 – 564 mg/dl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Max Heart 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71 – 202 bpm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Oldpeak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0.0 – 6.2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Chest Pain 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4 categories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Thalassemia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3 categories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Target (label)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0 = No Disease, 1 = Disease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57784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Target Distribution</a:t>
            </a:r>
            <a:endParaRPr lang="en-US" sz="14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486400" y="2377440"/>
          <a:ext cx="34747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Spark ML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234440" cy="1188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1430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Raw CSV 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71907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5FF"/>
                </a:solidFill>
              </a:rPr>
              <a:t>1,025 rows · 14 cols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554480" y="1572768"/>
            <a:ext cx="182880" cy="914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1097280"/>
            <a:ext cx="1234440" cy="11887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1430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StringIndexer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71907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5FF"/>
                </a:solidFill>
              </a:rPr>
              <a:t>8 categorical cols → numeric index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71800" y="1572768"/>
            <a:ext cx="182880" cy="914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2" name="Shape 10"/>
          <p:cNvSpPr/>
          <p:nvPr/>
        </p:nvSpPr>
        <p:spPr>
          <a:xfrm>
            <a:off x="3154680" y="1097280"/>
            <a:ext cx="1234440" cy="1188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11430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OneHotEncoder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54680" y="171907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5FF"/>
                </a:solidFill>
              </a:rPr>
              <a:t>Index → binary vector (8 cols)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89120" y="1572768"/>
            <a:ext cx="182880" cy="914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1097280"/>
            <a:ext cx="1234440" cy="11887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1430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VectorAssembler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71907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5FF"/>
                </a:solidFill>
              </a:rPr>
              <a:t>13 inputs → single feature vector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06440" y="1572768"/>
            <a:ext cx="182880" cy="914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0" name="Shape 18"/>
          <p:cNvSpPr/>
          <p:nvPr/>
        </p:nvSpPr>
        <p:spPr>
          <a:xfrm>
            <a:off x="5989320" y="1097280"/>
            <a:ext cx="1234440" cy="118872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11430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StandardScaler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89320" y="171907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5FF"/>
                </a:solidFill>
              </a:rPr>
              <a:t>Normalize mean=0, std=1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223760" y="1572768"/>
            <a:ext cx="182880" cy="914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4" name="Shape 22"/>
          <p:cNvSpPr/>
          <p:nvPr/>
        </p:nvSpPr>
        <p:spPr>
          <a:xfrm>
            <a:off x="7406640" y="1097280"/>
            <a:ext cx="1234440" cy="11887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1143000"/>
            <a:ext cx="1234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Classifier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171907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E5FF"/>
                </a:solidFill>
              </a:rPr>
              <a:t>LR / DT / RF / GBT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2514600"/>
            <a:ext cx="841248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2514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Train / Test Split: 80% Train (856 rows)  ·  20% Test (169 rows)  ·  Random seed = 42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3200400"/>
            <a:ext cx="54864" cy="6858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200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Categorical Features (8)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3520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sex, chest_pain_type, fasting_blood_sugar, rest_ecg, exercise_induced_angina, slope, vessels_colored_by_flourosopy, thalassemia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069080"/>
            <a:ext cx="54864" cy="6858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069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Numeric Features (5)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4389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age, resting_blood_pressure, cholestoral, Max_heart_rate, oldpeak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3200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Pipeline Benefits with Spark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35661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Distributed processing across cluster nodes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Lazy evaluation for memory efficiency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Reusable pipeline for new patient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Cross-validation built into Spark ML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Model Results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6012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960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Detailed Metrics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325880"/>
          <a:ext cx="3154680" cy="1828800"/>
        </p:xfrm>
        <a:graphic>
          <a:graphicData uri="http://schemas.openxmlformats.org/drawingml/2006/table">
            <a:tbl>
              <a:tblPr/>
              <a:tblGrid>
                <a:gridCol w="1188720"/>
                <a:gridCol w="640080"/>
                <a:gridCol w="640080"/>
                <a:gridCol w="640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Log. Reg.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0.963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0.876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0.876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Dec. Tree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0.935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Rnd. Forest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0.988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</a:rPr>
                        <a:t>GBT 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</a:rPr>
                        <a:t>1.000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</a:rPr>
                        <a:t>1.000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</a:rPr>
                        <a:t>1.000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760720" y="3291840"/>
            <a:ext cx="3154680" cy="1463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4"/>
          <p:cNvSpPr/>
          <p:nvPr/>
        </p:nvSpPr>
        <p:spPr>
          <a:xfrm>
            <a:off x="5760720" y="333756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2196F3"/>
                </a:solidFill>
              </a:rPr>
              <a:t>BEST MODEL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760720" y="36576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Gradient Boosting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760720" y="40690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AUC-ROC: 1.000  |  Accuracy: 100%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Cross-Validation &amp; Confusion Matrix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5-Fold Cross-Validation — Random Forest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75488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Parameter Grid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numTrees: [50, 100]  ·  maxDepth: [5, 10]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01952"/>
            <a:ext cx="47548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019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Best numTrees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9019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50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86584"/>
            <a:ext cx="475488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865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Best maxDepth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3865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71216"/>
            <a:ext cx="47548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712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CV AUC-ROC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28712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1.0000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55848"/>
            <a:ext cx="475488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355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CV Accuracy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3558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1.0000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47548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CV F1 Score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1.0000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Confusion Matrix (Best CV Model)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1463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Predicted 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43800" y="1463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Predicted 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49240" y="18745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Actual 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26974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Actual 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1828800"/>
            <a:ext cx="1280160" cy="822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1828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78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17920" y="2377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</a:rPr>
              <a:t>True Negative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43800" y="1828800"/>
            <a:ext cx="1280160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7543800" y="1828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543800" y="2377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EE2E2"/>
                </a:solidFill>
              </a:rPr>
              <a:t>False Positive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17920" y="2743200"/>
            <a:ext cx="1280160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27432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217920" y="3291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EE2E2"/>
                </a:solidFill>
              </a:rPr>
              <a:t>False Negative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543800" y="2743200"/>
            <a:ext cx="1280160" cy="822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8" name="Text 36"/>
          <p:cNvSpPr/>
          <p:nvPr/>
        </p:nvSpPr>
        <p:spPr>
          <a:xfrm>
            <a:off x="7543800" y="27432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91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7543800" y="3291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</a:rPr>
              <a:t>True Positive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486400" y="3749040"/>
            <a:ext cx="109728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0" y="37490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100%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486400" y="41330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</a:rPr>
              <a:t>Sensitivity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720840" y="3749040"/>
            <a:ext cx="109728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4" name="Text 42"/>
          <p:cNvSpPr/>
          <p:nvPr/>
        </p:nvSpPr>
        <p:spPr>
          <a:xfrm>
            <a:off x="6720840" y="37490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100%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720840" y="41330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</a:rPr>
              <a:t>Specificity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955280" y="3749040"/>
            <a:ext cx="109728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7" name="Text 45"/>
          <p:cNvSpPr/>
          <p:nvPr/>
        </p:nvSpPr>
        <p:spPr>
          <a:xfrm>
            <a:off x="7955280" y="37490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100%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955280" y="41330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8"/>
                </a:solidFill>
              </a:rPr>
              <a:t>Precision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 &amp;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321040" cy="65836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5836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</a:rPr>
              <a:t>Spark ML Pipeline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Built an end-to-end scalable pipeline with StringIndexer, OHE, VectorAssembler and StandardScaler.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321040" cy="65836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28800"/>
            <a:ext cx="54864" cy="65836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</a:rPr>
              <a:t>4 Models Compared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Logistic Regression, Decision Tree, Random Forest, and Gradient Boosting trained and evaluated.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8321040" cy="65836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606040"/>
            <a:ext cx="54864" cy="65836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</a:rPr>
              <a:t>Perfect Results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GBT and tuned Random Forest both achieved AUC-ROC = 1.0, Accuracy = 100% on test data.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321040" cy="65836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383280"/>
            <a:ext cx="54864" cy="65836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29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</a:rPr>
              <a:t>5-Fold CV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Cross-validation with hyperparameter grid confirmed model robustness (numTrees=50, maxDepth=10).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160520"/>
            <a:ext cx="54864" cy="65836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06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</a:rPr>
              <a:t>Zero Errors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Confusion matrix showed 0 false positives and 0 false negatives on the 169-sample test set.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Built with  Apache Spark 4.0  ·  Python 3.9  ·  Java 8  ·  PySpark ML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 using Apache Spark</dc:title>
  <dc:subject>PptxGenJS Presentation</dc:subject>
  <dc:creator>PptxGenJS</dc:creator>
  <cp:lastModifiedBy>PptxGenJS</cp:lastModifiedBy>
  <cp:revision>1</cp:revision>
  <dcterms:created xsi:type="dcterms:W3CDTF">2026-04-16T21:34:29Z</dcterms:created>
  <dcterms:modified xsi:type="dcterms:W3CDTF">2026-04-16T21:34:29Z</dcterms:modified>
</cp:coreProperties>
</file>